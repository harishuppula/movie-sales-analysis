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6"/>
  </p:notesMasterIdLst>
  <p:sldIdLst>
    <p:sldId id="256" r:id="rId2"/>
    <p:sldId id="286" r:id="rId3"/>
    <p:sldId id="281" r:id="rId4"/>
    <p:sldId id="262" r:id="rId5"/>
    <p:sldId id="289" r:id="rId6"/>
    <p:sldId id="273" r:id="rId7"/>
    <p:sldId id="274" r:id="rId8"/>
    <p:sldId id="287" r:id="rId9"/>
    <p:sldId id="279" r:id="rId10"/>
    <p:sldId id="284" r:id="rId11"/>
    <p:sldId id="288" r:id="rId12"/>
    <p:sldId id="285" r:id="rId13"/>
    <p:sldId id="283" r:id="rId14"/>
    <p:sldId id="259" r:id="rId15"/>
  </p:sldIdLst>
  <p:sldSz cx="12192000" cy="6858000"/>
  <p:notesSz cx="6858000" cy="9144000"/>
  <p:embeddedFontLst>
    <p:embeddedFont>
      <p:font typeface="Lato Black" panose="020F0502020204030203" pitchFamily="34" charset="0"/>
      <p:bold r:id="rId17"/>
      <p:boldItalic r:id="rId18"/>
    </p:embeddedFont>
    <p:embeddedFont>
      <p:font typeface="Libre Baskerville" panose="02000000000000000000" pitchFamily="2" charset="0"/>
      <p:regular r:id="rId19"/>
      <p:bold r:id="rId20"/>
      <p:italic r:id="rId2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3" roundtripDataSignature="AMtx7mi4HmEECUlll0m8HTY06QsqsmZGGQ=="/>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1212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94660"/>
  </p:normalViewPr>
  <p:slideViewPr>
    <p:cSldViewPr snapToGrid="0">
      <p:cViewPr varScale="1">
        <p:scale>
          <a:sx n="78" d="100"/>
          <a:sy n="78" d="100"/>
        </p:scale>
        <p:origin x="869"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customschemas.google.com/relationships/presentationmetadata" Target="metadata"/><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5" name="Google Shape;25;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2" name="Google Shape;32;p10"/>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46" name="Google Shape;46;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14106F-A246-2E48-9544-E8146AB80CF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3229C53-2CA9-764A-93AB-ECAD546B01F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66C782C-8745-7347-B6AC-4D8772289B98}"/>
              </a:ext>
            </a:extLst>
          </p:cNvPr>
          <p:cNvSpPr>
            <a:spLocks noGrp="1"/>
          </p:cNvSpPr>
          <p:nvPr>
            <p:ph type="dt" sz="half" idx="10"/>
          </p:nvPr>
        </p:nvSpPr>
        <p:spPr/>
        <p:txBody>
          <a:bodyPr/>
          <a:lstStyle/>
          <a:p>
            <a:fld id="{37A2730A-859E-B540-ADF3-E97069AD1FDB}" type="datetimeFigureOut">
              <a:rPr lang="en-US" smtClean="0"/>
              <a:t>1/3/2026</a:t>
            </a:fld>
            <a:endParaRPr lang="en-US"/>
          </a:p>
        </p:txBody>
      </p:sp>
      <p:sp>
        <p:nvSpPr>
          <p:cNvPr id="5" name="Footer Placeholder 4">
            <a:extLst>
              <a:ext uri="{FF2B5EF4-FFF2-40B4-BE49-F238E27FC236}">
                <a16:creationId xmlns:a16="http://schemas.microsoft.com/office/drawing/2014/main" id="{0A1CFD0D-118D-4441-A91C-1B836A28AA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CB8388-0632-6942-96AC-2D619404EDCE}"/>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32166467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3" r:id="rId4"/>
    <p:sldLayoutId id="2147483654" r:id="rId5"/>
    <p:sldLayoutId id="2147483658" r:id="rId6"/>
    <p:sldLayoutId id="2147483659" r:id="rId7"/>
    <p:sldLayoutId id="2147483660"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1185" y="19259"/>
            <a:ext cx="12190815" cy="7060676"/>
          </a:xfrm>
          <a:prstGeom prst="rect">
            <a:avLst/>
          </a:prstGeom>
          <a:noFill/>
          <a:ln>
            <a:noFill/>
          </a:ln>
        </p:spPr>
      </p:pic>
      <p:sp>
        <p:nvSpPr>
          <p:cNvPr id="99" name="Google Shape;99;p1"/>
          <p:cNvSpPr txBox="1"/>
          <p:nvPr/>
        </p:nvSpPr>
        <p:spPr>
          <a:xfrm>
            <a:off x="3395221" y="3688645"/>
            <a:ext cx="5401558" cy="86173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endParaRPr lang="en-IN" sz="1800" dirty="0">
              <a:solidFill>
                <a:schemeClr val="dk1"/>
              </a:solidFill>
              <a:latin typeface="Calibri"/>
              <a:ea typeface="Calibri"/>
              <a:cs typeface="Calibri"/>
              <a:sym typeface="Calibri"/>
            </a:endParaRPr>
          </a:p>
          <a:p>
            <a:pPr lvl="0" algn="ctr">
              <a:buSzPts val="1800"/>
            </a:pPr>
            <a:r>
              <a:rPr lang="en-IN" sz="3200" dirty="0">
                <a:solidFill>
                  <a:schemeClr val="tx1"/>
                </a:solidFill>
                <a:latin typeface="Lato Black"/>
                <a:ea typeface="Lato Black"/>
                <a:cs typeface="Lato Black"/>
              </a:rPr>
              <a:t>Movie Sales Analysis</a:t>
            </a:r>
          </a:p>
        </p:txBody>
      </p:sp>
      <p:sp>
        <p:nvSpPr>
          <p:cNvPr id="5" name="Rectangle 4">
            <a:extLst>
              <a:ext uri="{FF2B5EF4-FFF2-40B4-BE49-F238E27FC236}">
                <a16:creationId xmlns:a16="http://schemas.microsoft.com/office/drawing/2014/main" id="{3C010588-4B5E-0B29-F640-E853F159DBFB}"/>
              </a:ext>
            </a:extLst>
          </p:cNvPr>
          <p:cNvSpPr/>
          <p:nvPr/>
        </p:nvSpPr>
        <p:spPr>
          <a:xfrm>
            <a:off x="8107051" y="4864230"/>
            <a:ext cx="3167407" cy="15648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SzPts val="1800"/>
            </a:pPr>
            <a:r>
              <a:rPr lang="en-US" sz="2000" b="1" dirty="0">
                <a:solidFill>
                  <a:srgbClr val="FF0000"/>
                </a:solidFill>
                <a:latin typeface="Calibri" panose="020F0502020204030204" pitchFamily="34" charset="0"/>
                <a:ea typeface="Calibri" panose="020F0502020204030204" pitchFamily="34" charset="0"/>
                <a:cs typeface="Calibri" panose="020F0502020204030204" pitchFamily="34" charset="0"/>
              </a:rPr>
              <a:t>Presented by:</a:t>
            </a:r>
          </a:p>
          <a:p>
            <a:pPr algn="ctr">
              <a:buSzPts val="1800"/>
            </a:pPr>
            <a:r>
              <a:rPr lang="en-US" sz="1800" b="1" dirty="0">
                <a:solidFill>
                  <a:schemeClr val="dk1"/>
                </a:solidFill>
                <a:latin typeface="Times New Roman" panose="02020603050405020304" pitchFamily="18" charset="0"/>
                <a:ea typeface="Calibri"/>
                <a:cs typeface="Times New Roman" panose="02020603050405020304" pitchFamily="18" charset="0"/>
              </a:rPr>
              <a:t>          Harish Uppula</a:t>
            </a:r>
          </a:p>
          <a:p>
            <a:pPr algn="ctr">
              <a:buSzPts val="1800"/>
            </a:pPr>
            <a:r>
              <a:rPr lang="en-US" sz="1800" b="1" dirty="0">
                <a:solidFill>
                  <a:schemeClr val="dk1"/>
                </a:solidFill>
                <a:latin typeface="Times New Roman" panose="02020603050405020304" pitchFamily="18" charset="0"/>
                <a:ea typeface="Calibri"/>
                <a:cs typeface="Times New Roman" panose="02020603050405020304" pitchFamily="18" charset="0"/>
              </a:rPr>
              <a:t>           Ranjith </a:t>
            </a:r>
            <a:r>
              <a:rPr lang="en-US" sz="1800" b="1" dirty="0" err="1">
                <a:solidFill>
                  <a:schemeClr val="dk1"/>
                </a:solidFill>
                <a:latin typeface="Times New Roman" panose="02020603050405020304" pitchFamily="18" charset="0"/>
                <a:ea typeface="Calibri"/>
                <a:cs typeface="Times New Roman" panose="02020603050405020304" pitchFamily="18" charset="0"/>
              </a:rPr>
              <a:t>kumar</a:t>
            </a:r>
            <a:endParaRPr lang="en-US" sz="1800" b="1" dirty="0">
              <a:solidFill>
                <a:schemeClr val="dk1"/>
              </a:solidFill>
              <a:latin typeface="Times New Roman" panose="02020603050405020304" pitchFamily="18" charset="0"/>
              <a:ea typeface="Calibri"/>
              <a:cs typeface="Times New Roman" panose="02020603050405020304" pitchFamily="18" charset="0"/>
            </a:endParaRPr>
          </a:p>
          <a:p>
            <a:pPr algn="ctr">
              <a:buSzPts val="1800"/>
            </a:pPr>
            <a:r>
              <a:rPr lang="en-US" sz="1800" b="1" dirty="0">
                <a:solidFill>
                  <a:schemeClr val="dk1"/>
                </a:solidFill>
                <a:latin typeface="Times New Roman" panose="02020603050405020304" pitchFamily="18" charset="0"/>
                <a:ea typeface="Calibri"/>
                <a:cs typeface="Times New Roman" panose="02020603050405020304" pitchFamily="18" charset="0"/>
              </a:rPr>
              <a:t>  Batch:422</a:t>
            </a:r>
            <a:endParaRPr lang="en-IN" sz="1800" b="1" dirty="0">
              <a:solidFill>
                <a:schemeClr val="dk1"/>
              </a:solidFill>
              <a:latin typeface="Times New Roman" panose="02020603050405020304" pitchFamily="18" charset="0"/>
              <a:ea typeface="Calibri"/>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96CDE4-402E-FC2B-EAFD-CA18F47D6F76}"/>
              </a:ext>
            </a:extLst>
          </p:cNvPr>
          <p:cNvSpPr>
            <a:spLocks noGrp="1"/>
          </p:cNvSpPr>
          <p:nvPr>
            <p:ph type="title"/>
          </p:nvPr>
        </p:nvSpPr>
        <p:spPr/>
        <p:txBody>
          <a:bodyPr/>
          <a:lstStyle/>
          <a:p>
            <a:r>
              <a:rPr lang="en-IN" sz="3200" dirty="0">
                <a:latin typeface="Times New Roman" panose="02020603050405020304" pitchFamily="18" charset="0"/>
                <a:cs typeface="Times New Roman" panose="02020603050405020304" pitchFamily="18" charset="0"/>
              </a:rPr>
              <a:t>AGENDA :</a:t>
            </a:r>
          </a:p>
        </p:txBody>
      </p:sp>
      <p:sp>
        <p:nvSpPr>
          <p:cNvPr id="3" name="Text Placeholder 2">
            <a:extLst>
              <a:ext uri="{FF2B5EF4-FFF2-40B4-BE49-F238E27FC236}">
                <a16:creationId xmlns:a16="http://schemas.microsoft.com/office/drawing/2014/main" id="{AC5D1BEC-7190-FECC-9D87-502FB20856E0}"/>
              </a:ext>
            </a:extLst>
          </p:cNvPr>
          <p:cNvSpPr>
            <a:spLocks noGrp="1"/>
          </p:cNvSpPr>
          <p:nvPr>
            <p:ph type="body" idx="1"/>
          </p:nvPr>
        </p:nvSpPr>
        <p:spPr/>
        <p:txBody>
          <a:bodyPr/>
          <a:lstStyle/>
          <a:p>
            <a:r>
              <a:rPr lang="en-IN" sz="2100" dirty="0">
                <a:latin typeface="Times New Roman" panose="02020603050405020304" pitchFamily="18" charset="0"/>
                <a:cs typeface="Times New Roman" panose="02020603050405020304" pitchFamily="18" charset="0"/>
              </a:rPr>
              <a:t>Business Problem </a:t>
            </a:r>
          </a:p>
          <a:p>
            <a:r>
              <a:rPr lang="en-IN" sz="2100" dirty="0">
                <a:latin typeface="Times New Roman" panose="02020603050405020304" pitchFamily="18" charset="0"/>
                <a:cs typeface="Times New Roman" panose="02020603050405020304" pitchFamily="18" charset="0"/>
              </a:rPr>
              <a:t>Business Objective</a:t>
            </a:r>
          </a:p>
          <a:p>
            <a:r>
              <a:rPr lang="en-IN" sz="2100" dirty="0">
                <a:latin typeface="Times New Roman" panose="02020603050405020304" pitchFamily="18" charset="0"/>
                <a:cs typeface="Times New Roman" panose="02020603050405020304" pitchFamily="18" charset="0"/>
              </a:rPr>
              <a:t>Dataset Overview</a:t>
            </a:r>
          </a:p>
          <a:p>
            <a:r>
              <a:rPr lang="en-IN" sz="2100" dirty="0">
                <a:latin typeface="Times New Roman" panose="02020603050405020304" pitchFamily="18" charset="0"/>
                <a:cs typeface="Times New Roman" panose="02020603050405020304" pitchFamily="18" charset="0"/>
              </a:rPr>
              <a:t>Data Cleaning &amp; Transformation </a:t>
            </a:r>
          </a:p>
          <a:p>
            <a:r>
              <a:rPr lang="en-IN" sz="2100" dirty="0">
                <a:latin typeface="Times New Roman" panose="02020603050405020304" pitchFamily="18" charset="0"/>
                <a:cs typeface="Times New Roman" panose="02020603050405020304" pitchFamily="18" charset="0"/>
              </a:rPr>
              <a:t>DAX Measures Created </a:t>
            </a:r>
          </a:p>
          <a:p>
            <a:r>
              <a:rPr lang="en-IN" sz="2100" dirty="0">
                <a:latin typeface="Times New Roman" panose="02020603050405020304" pitchFamily="18" charset="0"/>
                <a:cs typeface="Times New Roman" panose="02020603050405020304" pitchFamily="18" charset="0"/>
              </a:rPr>
              <a:t>Dashboard Highlights</a:t>
            </a:r>
          </a:p>
          <a:p>
            <a:r>
              <a:rPr lang="en-IN" sz="2100" dirty="0">
                <a:latin typeface="Times New Roman" panose="02020603050405020304" pitchFamily="18" charset="0"/>
                <a:cs typeface="Times New Roman" panose="02020603050405020304" pitchFamily="18" charset="0"/>
              </a:rPr>
              <a:t>Key Insights</a:t>
            </a:r>
          </a:p>
          <a:p>
            <a:r>
              <a:rPr lang="en-IN" sz="2100" dirty="0">
                <a:latin typeface="Times New Roman" panose="02020603050405020304" pitchFamily="18" charset="0"/>
                <a:cs typeface="Times New Roman" panose="02020603050405020304" pitchFamily="18" charset="0"/>
              </a:rPr>
              <a:t>Challenges Faced</a:t>
            </a:r>
          </a:p>
          <a:p>
            <a:r>
              <a:rPr lang="en-IN" sz="2100" dirty="0">
                <a:latin typeface="Times New Roman" panose="02020603050405020304" pitchFamily="18" charset="0"/>
                <a:cs typeface="Times New Roman" panose="02020603050405020304" pitchFamily="18" charset="0"/>
              </a:rPr>
              <a:t>Conclusion</a:t>
            </a:r>
          </a:p>
          <a:p>
            <a:endParaRPr lang="en-IN" b="1"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41091620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25FEC1-7C42-2295-FEA7-653E5AD7CAAD}"/>
              </a:ext>
            </a:extLst>
          </p:cNvPr>
          <p:cNvSpPr>
            <a:spLocks noGrp="1"/>
          </p:cNvSpPr>
          <p:nvPr>
            <p:ph type="title"/>
          </p:nvPr>
        </p:nvSpPr>
        <p:spPr>
          <a:xfrm>
            <a:off x="791852" y="365125"/>
            <a:ext cx="10561948" cy="1086603"/>
          </a:xfrm>
        </p:spPr>
        <p:txBody>
          <a:bodyPr>
            <a:normAutofit/>
          </a:bodyPr>
          <a:lstStyle/>
          <a:p>
            <a:r>
              <a:rPr lang="en-IN" sz="3200" dirty="0">
                <a:latin typeface="Times New Roman" panose="02020603050405020304" pitchFamily="18" charset="0"/>
                <a:cs typeface="Times New Roman" panose="02020603050405020304" pitchFamily="18" charset="0"/>
              </a:rPr>
              <a:t>Business Problem :</a:t>
            </a:r>
          </a:p>
        </p:txBody>
      </p:sp>
      <p:sp>
        <p:nvSpPr>
          <p:cNvPr id="3" name="Text Placeholder 2">
            <a:extLst>
              <a:ext uri="{FF2B5EF4-FFF2-40B4-BE49-F238E27FC236}">
                <a16:creationId xmlns:a16="http://schemas.microsoft.com/office/drawing/2014/main" id="{F550160C-13FD-A4A4-5A2B-25DDC418FF86}"/>
              </a:ext>
            </a:extLst>
          </p:cNvPr>
          <p:cNvSpPr>
            <a:spLocks noGrp="1"/>
          </p:cNvSpPr>
          <p:nvPr>
            <p:ph type="body" idx="1"/>
          </p:nvPr>
        </p:nvSpPr>
        <p:spPr>
          <a:xfrm>
            <a:off x="1009909" y="1347729"/>
            <a:ext cx="10390239" cy="4593260"/>
          </a:xfrm>
        </p:spPr>
        <p:txBody>
          <a:bodyPr>
            <a:normAutofit/>
          </a:bodyPr>
          <a:lstStyle/>
          <a:p>
            <a:pPr marL="114300" indent="0">
              <a:buNone/>
            </a:pPr>
            <a:r>
              <a:rPr lang="en-US" sz="2100" dirty="0">
                <a:latin typeface="Times New Roman" panose="02020603050405020304" pitchFamily="18" charset="0"/>
                <a:cs typeface="Times New Roman" panose="02020603050405020304" pitchFamily="18" charset="0"/>
              </a:rPr>
              <a:t>Movie companies, streaming platforms, and distributors struggle to understand what factors truly drive movie success. With large datasets containing revenue, ratings, genres, votes, directors, and runtimes, it becomes difficult to manually identify:</a:t>
            </a:r>
          </a:p>
          <a:p>
            <a:r>
              <a:rPr lang="en-US" sz="2100" dirty="0">
                <a:latin typeface="Times New Roman" panose="02020603050405020304" pitchFamily="18" charset="0"/>
                <a:cs typeface="Times New Roman" panose="02020603050405020304" pitchFamily="18" charset="0"/>
              </a:rPr>
              <a:t>Which years or genres perform the best</a:t>
            </a:r>
          </a:p>
          <a:p>
            <a:r>
              <a:rPr lang="en-US" sz="2100" dirty="0">
                <a:latin typeface="Times New Roman" panose="02020603050405020304" pitchFamily="18" charset="0"/>
                <a:cs typeface="Times New Roman" panose="02020603050405020304" pitchFamily="18" charset="0"/>
              </a:rPr>
              <a:t>Which directors or movies generate the highest revenue</a:t>
            </a:r>
          </a:p>
          <a:p>
            <a:r>
              <a:rPr lang="en-US" sz="2100" dirty="0">
                <a:latin typeface="Times New Roman" panose="02020603050405020304" pitchFamily="18" charset="0"/>
                <a:cs typeface="Times New Roman" panose="02020603050405020304" pitchFamily="18" charset="0"/>
              </a:rPr>
              <a:t>How ratings, votes, and runtime influence box office performance</a:t>
            </a:r>
          </a:p>
          <a:p>
            <a:pPr marL="114300" indent="0">
              <a:buNone/>
            </a:pPr>
            <a:endParaRPr lang="en-US" sz="2100" dirty="0">
              <a:latin typeface="Times New Roman" panose="02020603050405020304" pitchFamily="18" charset="0"/>
              <a:cs typeface="Times New Roman" panose="02020603050405020304" pitchFamily="18" charset="0"/>
            </a:endParaRPr>
          </a:p>
          <a:p>
            <a:pPr marL="114300" indent="0">
              <a:buNone/>
            </a:pPr>
            <a:r>
              <a:rPr lang="en-US" sz="2100" dirty="0">
                <a:latin typeface="Times New Roman" panose="02020603050405020304" pitchFamily="18" charset="0"/>
                <a:cs typeface="Times New Roman" panose="02020603050405020304" pitchFamily="18" charset="0"/>
              </a:rPr>
              <a:t>Without proper analysis, studios may invest in the wrong genres, choose less impactful directors, or make movies that fail to attract audiences.</a:t>
            </a:r>
          </a:p>
          <a:p>
            <a:pPr marL="114300" indent="0">
              <a:buNone/>
            </a:pPr>
            <a:r>
              <a:rPr lang="en-US" sz="2100" dirty="0">
                <a:latin typeface="Times New Roman" panose="02020603050405020304" pitchFamily="18" charset="0"/>
                <a:cs typeface="Times New Roman" panose="02020603050405020304" pitchFamily="18" charset="0"/>
              </a:rPr>
              <a:t>A Movie Sales Analysis Dashboard is needed to uncover performance trends, identify top contributors, and support data-driven decisions for future movie production and marketing.</a:t>
            </a:r>
          </a:p>
          <a:p>
            <a:endParaRPr lang="en-IN" dirty="0"/>
          </a:p>
        </p:txBody>
      </p:sp>
    </p:spTree>
    <p:extLst>
      <p:ext uri="{BB962C8B-B14F-4D97-AF65-F5344CB8AC3E}">
        <p14:creationId xmlns:p14="http://schemas.microsoft.com/office/powerpoint/2010/main" val="10396766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D9DBEA-AE18-5342-296C-2B9E87F9C8E5}"/>
              </a:ext>
            </a:extLst>
          </p:cNvPr>
          <p:cNvSpPr>
            <a:spLocks noGrp="1"/>
          </p:cNvSpPr>
          <p:nvPr>
            <p:ph type="title"/>
          </p:nvPr>
        </p:nvSpPr>
        <p:spPr>
          <a:xfrm>
            <a:off x="838986" y="395925"/>
            <a:ext cx="10514814" cy="1121789"/>
          </a:xfrm>
        </p:spPr>
        <p:txBody>
          <a:bodyPr>
            <a:normAutofit/>
          </a:bodyPr>
          <a:lstStyle/>
          <a:p>
            <a:r>
              <a:rPr lang="en-IN" sz="3200" dirty="0">
                <a:latin typeface="Times New Roman" panose="02020603050405020304" pitchFamily="18" charset="0"/>
                <a:cs typeface="Times New Roman" panose="02020603050405020304" pitchFamily="18" charset="0"/>
              </a:rPr>
              <a:t>Business</a:t>
            </a:r>
            <a:r>
              <a:rPr lang="en-IN" sz="3200" dirty="0"/>
              <a:t> </a:t>
            </a:r>
            <a:r>
              <a:rPr lang="en-IN" sz="3200" dirty="0">
                <a:latin typeface="Times New Roman" panose="02020603050405020304" pitchFamily="18" charset="0"/>
                <a:cs typeface="Times New Roman" panose="02020603050405020304" pitchFamily="18" charset="0"/>
              </a:rPr>
              <a:t>Objective</a:t>
            </a:r>
            <a:r>
              <a:rPr lang="en-IN" sz="3200" dirty="0"/>
              <a:t> </a:t>
            </a:r>
            <a:r>
              <a:rPr lang="en-IN" sz="3200" dirty="0">
                <a:latin typeface="Times New Roman" panose="02020603050405020304" pitchFamily="18" charset="0"/>
                <a:cs typeface="Times New Roman" panose="02020603050405020304" pitchFamily="18" charset="0"/>
              </a:rPr>
              <a:t>:</a:t>
            </a:r>
          </a:p>
        </p:txBody>
      </p:sp>
      <p:sp>
        <p:nvSpPr>
          <p:cNvPr id="3" name="Text Placeholder 2">
            <a:extLst>
              <a:ext uri="{FF2B5EF4-FFF2-40B4-BE49-F238E27FC236}">
                <a16:creationId xmlns:a16="http://schemas.microsoft.com/office/drawing/2014/main" id="{3E57C4E5-0DBC-E826-0D07-1CA666F5E765}"/>
              </a:ext>
            </a:extLst>
          </p:cNvPr>
          <p:cNvSpPr>
            <a:spLocks noGrp="1"/>
          </p:cNvSpPr>
          <p:nvPr>
            <p:ph type="body" idx="1"/>
          </p:nvPr>
        </p:nvSpPr>
        <p:spPr>
          <a:xfrm>
            <a:off x="838200" y="1340836"/>
            <a:ext cx="10693924" cy="4433003"/>
          </a:xfrm>
        </p:spPr>
        <p:txBody>
          <a:bodyPr>
            <a:normAutofit/>
          </a:bodyPr>
          <a:lstStyle/>
          <a:p>
            <a:r>
              <a:rPr lang="en-US" sz="2100" dirty="0">
                <a:latin typeface="Times New Roman" panose="02020603050405020304" pitchFamily="18" charset="0"/>
                <a:cs typeface="Times New Roman" panose="02020603050405020304" pitchFamily="18" charset="0"/>
              </a:rPr>
              <a:t>To analyze IMDb movie data and uncover insights related to movie performance, revenue, genre trends, ratings, and director contribution using Power BI.</a:t>
            </a:r>
          </a:p>
          <a:p>
            <a:endParaRPr lang="en-US" sz="2100" dirty="0">
              <a:latin typeface="Times New Roman" panose="02020603050405020304" pitchFamily="18" charset="0"/>
              <a:cs typeface="Times New Roman" panose="02020603050405020304" pitchFamily="18" charset="0"/>
            </a:endParaRPr>
          </a:p>
          <a:p>
            <a:pPr marL="114300" indent="0">
              <a:buNone/>
            </a:pPr>
            <a:r>
              <a:rPr lang="en-IN" sz="2100" b="1" dirty="0">
                <a:latin typeface="Times New Roman" panose="02020603050405020304" pitchFamily="18" charset="0"/>
                <a:cs typeface="Times New Roman" panose="02020603050405020304" pitchFamily="18" charset="0"/>
              </a:rPr>
              <a:t>     Key goals:</a:t>
            </a:r>
          </a:p>
          <a:p>
            <a:r>
              <a:rPr lang="en-US" sz="2100" dirty="0">
                <a:latin typeface="Times New Roman" panose="02020603050405020304" pitchFamily="18" charset="0"/>
                <a:cs typeface="Times New Roman" panose="02020603050405020304" pitchFamily="18" charset="0"/>
              </a:rPr>
              <a:t>Analyze movie performance across years.</a:t>
            </a:r>
          </a:p>
          <a:p>
            <a:r>
              <a:rPr lang="fr-FR" sz="2100" dirty="0">
                <a:latin typeface="Times New Roman" panose="02020603050405020304" pitchFamily="18" charset="0"/>
                <a:cs typeface="Times New Roman" panose="02020603050405020304" pitchFamily="18" charset="0"/>
              </a:rPr>
              <a:t>Compare revenue &amp; engagement </a:t>
            </a:r>
            <a:r>
              <a:rPr lang="fr-FR" sz="2100" dirty="0" err="1">
                <a:latin typeface="Times New Roman" panose="02020603050405020304" pitchFamily="18" charset="0"/>
                <a:cs typeface="Times New Roman" panose="02020603050405020304" pitchFamily="18" charset="0"/>
              </a:rPr>
              <a:t>across</a:t>
            </a:r>
            <a:r>
              <a:rPr lang="fr-FR" sz="2100" dirty="0">
                <a:latin typeface="Times New Roman" panose="02020603050405020304" pitchFamily="18" charset="0"/>
                <a:cs typeface="Times New Roman" panose="02020603050405020304" pitchFamily="18" charset="0"/>
              </a:rPr>
              <a:t> genres.</a:t>
            </a:r>
          </a:p>
          <a:p>
            <a:r>
              <a:rPr lang="en-US" sz="2100" dirty="0">
                <a:latin typeface="Times New Roman" panose="02020603050405020304" pitchFamily="18" charset="0"/>
                <a:cs typeface="Times New Roman" panose="02020603050405020304" pitchFamily="18" charset="0"/>
              </a:rPr>
              <a:t>Identify top directors and top-grossing movies.</a:t>
            </a:r>
          </a:p>
          <a:p>
            <a:r>
              <a:rPr lang="en-US" sz="2100" dirty="0">
                <a:latin typeface="Times New Roman" panose="02020603050405020304" pitchFamily="18" charset="0"/>
                <a:cs typeface="Times New Roman" panose="02020603050405020304" pitchFamily="18" charset="0"/>
              </a:rPr>
              <a:t>Understand how ratings, votes &amp; runtime affect revenue.</a:t>
            </a:r>
          </a:p>
          <a:p>
            <a:r>
              <a:rPr lang="en-US" sz="2100" dirty="0">
                <a:latin typeface="Times New Roman" panose="02020603050405020304" pitchFamily="18" charset="0"/>
                <a:cs typeface="Times New Roman" panose="02020603050405020304" pitchFamily="18" charset="0"/>
              </a:rPr>
              <a:t>Provide insights for smarter production decisions.</a:t>
            </a:r>
          </a:p>
          <a:p>
            <a:r>
              <a:rPr lang="en-US" sz="2100" dirty="0">
                <a:latin typeface="Times New Roman" panose="02020603050405020304" pitchFamily="18" charset="0"/>
                <a:cs typeface="Times New Roman" panose="02020603050405020304" pitchFamily="18" charset="0"/>
              </a:rPr>
              <a:t>Create an interactive Power BI dashboard for exploration</a:t>
            </a:r>
            <a:r>
              <a:rPr lang="en-US" sz="2000" dirty="0"/>
              <a:t>.</a:t>
            </a:r>
          </a:p>
          <a:p>
            <a:endParaRPr lang="en-US" sz="2000" dirty="0"/>
          </a:p>
          <a:p>
            <a:endParaRPr lang="en-US" sz="2000" b="1" dirty="0">
              <a:latin typeface="Times New Roman" panose="02020603050405020304" pitchFamily="18" charset="0"/>
              <a:cs typeface="Times New Roman" panose="02020603050405020304" pitchFamily="18" charset="0"/>
            </a:endParaRPr>
          </a:p>
          <a:p>
            <a:pPr marL="114300" indent="0">
              <a:buNone/>
            </a:pPr>
            <a:endParaRPr lang="en-IN" sz="21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571461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FB6EE0-2D59-5DB1-922B-845F336F3D48}"/>
              </a:ext>
            </a:extLst>
          </p:cNvPr>
          <p:cNvSpPr>
            <a:spLocks noGrp="1"/>
          </p:cNvSpPr>
          <p:nvPr>
            <p:ph type="title"/>
          </p:nvPr>
        </p:nvSpPr>
        <p:spPr/>
        <p:txBody>
          <a:bodyPr/>
          <a:lstStyle/>
          <a:p>
            <a:r>
              <a:rPr lang="en-US" sz="3200" dirty="0">
                <a:latin typeface="Times New Roman" panose="02020603050405020304" pitchFamily="18" charset="0"/>
                <a:cs typeface="Times New Roman" panose="02020603050405020304" pitchFamily="18" charset="0"/>
              </a:rPr>
              <a:t>Problem Statement:</a:t>
            </a:r>
            <a:br>
              <a:rPr lang="en-US" b="1" dirty="0"/>
            </a:br>
            <a:endParaRPr lang="en-IN" dirty="0"/>
          </a:p>
        </p:txBody>
      </p:sp>
      <p:sp>
        <p:nvSpPr>
          <p:cNvPr id="3" name="Text Placeholder 2">
            <a:extLst>
              <a:ext uri="{FF2B5EF4-FFF2-40B4-BE49-F238E27FC236}">
                <a16:creationId xmlns:a16="http://schemas.microsoft.com/office/drawing/2014/main" id="{65DB2858-4794-C710-1199-C28F0B53D5F5}"/>
              </a:ext>
            </a:extLst>
          </p:cNvPr>
          <p:cNvSpPr>
            <a:spLocks noGrp="1"/>
          </p:cNvSpPr>
          <p:nvPr>
            <p:ph type="body" idx="1"/>
          </p:nvPr>
        </p:nvSpPr>
        <p:spPr>
          <a:xfrm>
            <a:off x="1032386" y="993058"/>
            <a:ext cx="10321413" cy="5183905"/>
          </a:xfrm>
        </p:spPr>
        <p:txBody>
          <a:bodyPr>
            <a:normAutofit/>
          </a:bodyPr>
          <a:lstStyle/>
          <a:p>
            <a:r>
              <a:rPr lang="en-US" sz="2100" dirty="0">
                <a:latin typeface="Times New Roman" panose="02020603050405020304" pitchFamily="18" charset="0"/>
                <a:cs typeface="Times New Roman" panose="02020603050405020304" pitchFamily="18" charset="0"/>
              </a:rPr>
              <a:t>Movie studios and streaming platforms handle large volumes of movie-related data</a:t>
            </a:r>
          </a:p>
          <a:p>
            <a:r>
              <a:rPr lang="en-US" sz="2100" dirty="0">
                <a:latin typeface="Times New Roman" panose="02020603050405020304" pitchFamily="18" charset="0"/>
                <a:cs typeface="Times New Roman" panose="02020603050405020304" pitchFamily="18" charset="0"/>
              </a:rPr>
              <a:t>Difficulty in identifying key factors that drive movie revenue and success</a:t>
            </a:r>
          </a:p>
          <a:p>
            <a:r>
              <a:rPr lang="en-US" sz="2100" dirty="0">
                <a:latin typeface="Times New Roman" panose="02020603050405020304" pitchFamily="18" charset="0"/>
                <a:cs typeface="Times New Roman" panose="02020603050405020304" pitchFamily="18" charset="0"/>
              </a:rPr>
              <a:t>Lack of clarity on:</a:t>
            </a:r>
          </a:p>
          <a:p>
            <a:pPr lvl="1"/>
            <a:r>
              <a:rPr lang="en-US" sz="2100" dirty="0">
                <a:latin typeface="Times New Roman" panose="02020603050405020304" pitchFamily="18" charset="0"/>
                <a:cs typeface="Times New Roman" panose="02020603050405020304" pitchFamily="18" charset="0"/>
              </a:rPr>
              <a:t>Which genres consistently perform well</a:t>
            </a:r>
          </a:p>
          <a:p>
            <a:pPr lvl="1"/>
            <a:r>
              <a:rPr lang="en-US" sz="2100" dirty="0">
                <a:latin typeface="Times New Roman" panose="02020603050405020304" pitchFamily="18" charset="0"/>
                <a:cs typeface="Times New Roman" panose="02020603050405020304" pitchFamily="18" charset="0"/>
              </a:rPr>
              <a:t>Which directors deliver high-revenue movies</a:t>
            </a:r>
          </a:p>
          <a:p>
            <a:pPr lvl="1"/>
            <a:r>
              <a:rPr lang="en-US" sz="2100" dirty="0">
                <a:latin typeface="Times New Roman" panose="02020603050405020304" pitchFamily="18" charset="0"/>
                <a:cs typeface="Times New Roman" panose="02020603050405020304" pitchFamily="18" charset="0"/>
              </a:rPr>
              <a:t>How ratings, votes, and runtime impact box-office performance</a:t>
            </a:r>
          </a:p>
          <a:p>
            <a:r>
              <a:rPr lang="en-US" sz="2100" dirty="0">
                <a:latin typeface="Times New Roman" panose="02020603050405020304" pitchFamily="18" charset="0"/>
                <a:cs typeface="Times New Roman" panose="02020603050405020304" pitchFamily="18" charset="0"/>
              </a:rPr>
              <a:t>Manual analysis is time-consuming and prone to errors</a:t>
            </a:r>
          </a:p>
          <a:p>
            <a:endParaRPr lang="en-IN" sz="21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151154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1FEB21-3BD7-F0A0-5ABE-3AE1172CDAF6}"/>
              </a:ext>
            </a:extLst>
          </p:cNvPr>
          <p:cNvSpPr>
            <a:spLocks noGrp="1"/>
          </p:cNvSpPr>
          <p:nvPr>
            <p:ph type="title"/>
          </p:nvPr>
        </p:nvSpPr>
        <p:spPr>
          <a:xfrm>
            <a:off x="622171" y="459556"/>
            <a:ext cx="8757500" cy="372358"/>
          </a:xfrm>
        </p:spPr>
        <p:txBody>
          <a:bodyPr>
            <a:normAutofit fontScale="90000"/>
          </a:bodyPr>
          <a:lstStyle/>
          <a:p>
            <a:r>
              <a:rPr lang="en-IN" sz="3200" dirty="0">
                <a:latin typeface="Times New Roman" panose="02020603050405020304" pitchFamily="18" charset="0"/>
                <a:cs typeface="Times New Roman" panose="02020603050405020304" pitchFamily="18" charset="0"/>
              </a:rPr>
              <a:t>Dataset Overview :</a:t>
            </a:r>
            <a:endParaRPr lang="en-IN" dirty="0"/>
          </a:p>
        </p:txBody>
      </p:sp>
      <p:sp>
        <p:nvSpPr>
          <p:cNvPr id="3" name="Text Placeholder 2">
            <a:extLst>
              <a:ext uri="{FF2B5EF4-FFF2-40B4-BE49-F238E27FC236}">
                <a16:creationId xmlns:a16="http://schemas.microsoft.com/office/drawing/2014/main" id="{562EBD85-1549-F78A-0B8F-79BED9F6C6CE}"/>
              </a:ext>
            </a:extLst>
          </p:cNvPr>
          <p:cNvSpPr>
            <a:spLocks noGrp="1"/>
          </p:cNvSpPr>
          <p:nvPr>
            <p:ph type="body" idx="1"/>
          </p:nvPr>
        </p:nvSpPr>
        <p:spPr>
          <a:xfrm>
            <a:off x="799049" y="1022656"/>
            <a:ext cx="11057639" cy="5071622"/>
          </a:xfrm>
        </p:spPr>
        <p:txBody>
          <a:bodyPr>
            <a:normAutofit fontScale="85000" lnSpcReduction="20000"/>
          </a:bodyPr>
          <a:lstStyle/>
          <a:p>
            <a:pPr>
              <a:lnSpc>
                <a:spcPct val="100000"/>
              </a:lnSpc>
            </a:pPr>
            <a:r>
              <a:rPr lang="en-US" sz="2100" b="1" dirty="0">
                <a:latin typeface="Times New Roman" panose="02020603050405020304" pitchFamily="18" charset="0"/>
                <a:cs typeface="Times New Roman" panose="02020603050405020304" pitchFamily="18" charset="0"/>
              </a:rPr>
              <a:t>Total  Rows :</a:t>
            </a:r>
            <a:r>
              <a:rPr lang="en-US" sz="2100" dirty="0">
                <a:latin typeface="Times New Roman" panose="02020603050405020304" pitchFamily="18" charset="0"/>
                <a:cs typeface="Times New Roman" panose="02020603050405020304" pitchFamily="18" charset="0"/>
              </a:rPr>
              <a:t>1000</a:t>
            </a:r>
          </a:p>
          <a:p>
            <a:pPr>
              <a:lnSpc>
                <a:spcPct val="100000"/>
              </a:lnSpc>
            </a:pPr>
            <a:r>
              <a:rPr lang="en-US" sz="2100" b="1" dirty="0">
                <a:latin typeface="Times New Roman" panose="02020603050405020304" pitchFamily="18" charset="0"/>
                <a:cs typeface="Times New Roman" panose="02020603050405020304" pitchFamily="18" charset="0"/>
              </a:rPr>
              <a:t>Total Columns:</a:t>
            </a:r>
            <a:r>
              <a:rPr lang="en-US" sz="2100" dirty="0">
                <a:latin typeface="Times New Roman" panose="02020603050405020304" pitchFamily="18" charset="0"/>
                <a:cs typeface="Times New Roman" panose="02020603050405020304" pitchFamily="18" charset="0"/>
              </a:rPr>
              <a:t>12</a:t>
            </a:r>
          </a:p>
          <a:p>
            <a:pPr>
              <a:lnSpc>
                <a:spcPct val="100000"/>
              </a:lnSpc>
            </a:pPr>
            <a:r>
              <a:rPr lang="en-US" sz="2100" b="1" dirty="0">
                <a:latin typeface="Times New Roman" panose="02020603050405020304" pitchFamily="18" charset="0"/>
                <a:cs typeface="Times New Roman" panose="02020603050405020304" pitchFamily="18" charset="0"/>
              </a:rPr>
              <a:t>Rank                            :   </a:t>
            </a:r>
            <a:r>
              <a:rPr lang="en-US" sz="2100" dirty="0">
                <a:latin typeface="Times New Roman" panose="02020603050405020304" pitchFamily="18" charset="0"/>
                <a:cs typeface="Times New Roman" panose="02020603050405020304" pitchFamily="18" charset="0"/>
              </a:rPr>
              <a:t>The position of the movie in the ranking list. </a:t>
            </a:r>
          </a:p>
          <a:p>
            <a:pPr>
              <a:lnSpc>
                <a:spcPct val="100000"/>
              </a:lnSpc>
            </a:pPr>
            <a:r>
              <a:rPr lang="en-US" sz="2100" b="1" dirty="0">
                <a:latin typeface="Times New Roman" panose="02020603050405020304" pitchFamily="18" charset="0"/>
                <a:cs typeface="Times New Roman" panose="02020603050405020304" pitchFamily="18" charset="0"/>
              </a:rPr>
              <a:t>Title                             :    </a:t>
            </a:r>
            <a:r>
              <a:rPr lang="en-US" sz="2100" dirty="0">
                <a:latin typeface="Times New Roman" panose="02020603050405020304" pitchFamily="18" charset="0"/>
                <a:cs typeface="Times New Roman" panose="02020603050405020304" pitchFamily="18" charset="0"/>
              </a:rPr>
              <a:t>The name of the movie. </a:t>
            </a:r>
          </a:p>
          <a:p>
            <a:pPr>
              <a:lnSpc>
                <a:spcPct val="100000"/>
              </a:lnSpc>
            </a:pPr>
            <a:r>
              <a:rPr lang="en-US" sz="2100" b="1" dirty="0">
                <a:latin typeface="Times New Roman" panose="02020603050405020304" pitchFamily="18" charset="0"/>
                <a:cs typeface="Times New Roman" panose="02020603050405020304" pitchFamily="18" charset="0"/>
              </a:rPr>
              <a:t>Genre                          :    </a:t>
            </a:r>
            <a:r>
              <a:rPr lang="en-US" sz="2100" dirty="0">
                <a:latin typeface="Times New Roman" panose="02020603050405020304" pitchFamily="18" charset="0"/>
                <a:cs typeface="Times New Roman" panose="02020603050405020304" pitchFamily="18" charset="0"/>
              </a:rPr>
              <a:t>The primary genre(s) of the movie (e.g., Action, Drama).</a:t>
            </a:r>
          </a:p>
          <a:p>
            <a:pPr>
              <a:lnSpc>
                <a:spcPct val="100000"/>
              </a:lnSpc>
            </a:pPr>
            <a:r>
              <a:rPr lang="en-US" sz="2100" dirty="0">
                <a:latin typeface="Times New Roman" panose="02020603050405020304" pitchFamily="18" charset="0"/>
                <a:cs typeface="Times New Roman" panose="02020603050405020304" pitchFamily="18" charset="0"/>
              </a:rPr>
              <a:t> </a:t>
            </a:r>
            <a:r>
              <a:rPr lang="en-US" sz="2100" b="1" dirty="0">
                <a:latin typeface="Times New Roman" panose="02020603050405020304" pitchFamily="18" charset="0"/>
                <a:cs typeface="Times New Roman" panose="02020603050405020304" pitchFamily="18" charset="0"/>
              </a:rPr>
              <a:t>Description                :    </a:t>
            </a:r>
            <a:r>
              <a:rPr lang="en-US" sz="2100" dirty="0">
                <a:latin typeface="Times New Roman" panose="02020603050405020304" pitchFamily="18" charset="0"/>
                <a:cs typeface="Times New Roman" panose="02020603050405020304" pitchFamily="18" charset="0"/>
              </a:rPr>
              <a:t>A brief summary or synopsis of the movie plot. </a:t>
            </a:r>
          </a:p>
          <a:p>
            <a:pPr>
              <a:lnSpc>
                <a:spcPct val="100000"/>
              </a:lnSpc>
            </a:pPr>
            <a:r>
              <a:rPr lang="en-US" sz="2100" b="1" dirty="0">
                <a:latin typeface="Times New Roman" panose="02020603050405020304" pitchFamily="18" charset="0"/>
                <a:cs typeface="Times New Roman" panose="02020603050405020304" pitchFamily="18" charset="0"/>
              </a:rPr>
              <a:t>Director  </a:t>
            </a:r>
            <a:r>
              <a:rPr lang="en-US" sz="2100" dirty="0">
                <a:latin typeface="Times New Roman" panose="02020603050405020304" pitchFamily="18" charset="0"/>
                <a:cs typeface="Times New Roman" panose="02020603050405020304" pitchFamily="18" charset="0"/>
              </a:rPr>
              <a:t>                     :    The name of the movie’s director. </a:t>
            </a:r>
          </a:p>
          <a:p>
            <a:pPr>
              <a:lnSpc>
                <a:spcPct val="100000"/>
              </a:lnSpc>
            </a:pPr>
            <a:r>
              <a:rPr lang="en-US" sz="2100" b="1" dirty="0">
                <a:latin typeface="Times New Roman" panose="02020603050405020304" pitchFamily="18" charset="0"/>
                <a:cs typeface="Times New Roman" panose="02020603050405020304" pitchFamily="18" charset="0"/>
              </a:rPr>
              <a:t>Actors  </a:t>
            </a:r>
            <a:r>
              <a:rPr lang="en-US" sz="2100" dirty="0">
                <a:latin typeface="Times New Roman" panose="02020603050405020304" pitchFamily="18" charset="0"/>
                <a:cs typeface="Times New Roman" panose="02020603050405020304" pitchFamily="18" charset="0"/>
              </a:rPr>
              <a:t>                        :    Names of the main actors featured in the movie. </a:t>
            </a:r>
          </a:p>
          <a:p>
            <a:pPr>
              <a:lnSpc>
                <a:spcPct val="100000"/>
              </a:lnSpc>
            </a:pPr>
            <a:r>
              <a:rPr lang="en-US" sz="2100" b="1" dirty="0">
                <a:latin typeface="Times New Roman" panose="02020603050405020304" pitchFamily="18" charset="0"/>
                <a:cs typeface="Times New Roman" panose="02020603050405020304" pitchFamily="18" charset="0"/>
              </a:rPr>
              <a:t>Year  </a:t>
            </a:r>
            <a:r>
              <a:rPr lang="en-US" sz="2100" dirty="0">
                <a:latin typeface="Times New Roman" panose="02020603050405020304" pitchFamily="18" charset="0"/>
                <a:cs typeface="Times New Roman" panose="02020603050405020304" pitchFamily="18" charset="0"/>
              </a:rPr>
              <a:t>                           :    The year the movie was released. </a:t>
            </a:r>
          </a:p>
          <a:p>
            <a:pPr>
              <a:lnSpc>
                <a:spcPct val="100000"/>
              </a:lnSpc>
            </a:pPr>
            <a:r>
              <a:rPr lang="en-US" sz="2100" b="1" dirty="0">
                <a:latin typeface="Times New Roman" panose="02020603050405020304" pitchFamily="18" charset="0"/>
                <a:cs typeface="Times New Roman" panose="02020603050405020304" pitchFamily="18" charset="0"/>
              </a:rPr>
              <a:t>Runtime (Minutes)     :    </a:t>
            </a:r>
            <a:r>
              <a:rPr lang="en-US" sz="2100" dirty="0">
                <a:latin typeface="Times New Roman" panose="02020603050405020304" pitchFamily="18" charset="0"/>
                <a:cs typeface="Times New Roman" panose="02020603050405020304" pitchFamily="18" charset="0"/>
              </a:rPr>
              <a:t>Duration of the movie in minutes. </a:t>
            </a:r>
          </a:p>
          <a:p>
            <a:pPr>
              <a:lnSpc>
                <a:spcPct val="100000"/>
              </a:lnSpc>
            </a:pPr>
            <a:r>
              <a:rPr lang="en-US" sz="2100" b="1" dirty="0">
                <a:latin typeface="Times New Roman" panose="02020603050405020304" pitchFamily="18" charset="0"/>
                <a:cs typeface="Times New Roman" panose="02020603050405020304" pitchFamily="18" charset="0"/>
              </a:rPr>
              <a:t>Rating                          :    </a:t>
            </a:r>
            <a:r>
              <a:rPr lang="en-US" sz="2100" dirty="0">
                <a:latin typeface="Times New Roman" panose="02020603050405020304" pitchFamily="18" charset="0"/>
                <a:cs typeface="Times New Roman" panose="02020603050405020304" pitchFamily="18" charset="0"/>
              </a:rPr>
              <a:t>The average viewer rating (e.g., IMDb rating). </a:t>
            </a:r>
          </a:p>
          <a:p>
            <a:pPr>
              <a:lnSpc>
                <a:spcPct val="100000"/>
              </a:lnSpc>
            </a:pPr>
            <a:r>
              <a:rPr lang="en-US" sz="2100" b="1" dirty="0">
                <a:latin typeface="Times New Roman" panose="02020603050405020304" pitchFamily="18" charset="0"/>
                <a:cs typeface="Times New Roman" panose="02020603050405020304" pitchFamily="18" charset="0"/>
              </a:rPr>
              <a:t>Votes                            :    </a:t>
            </a:r>
            <a:r>
              <a:rPr lang="en-US" sz="2100" dirty="0">
                <a:latin typeface="Times New Roman" panose="02020603050405020304" pitchFamily="18" charset="0"/>
                <a:cs typeface="Times New Roman" panose="02020603050405020304" pitchFamily="18" charset="0"/>
              </a:rPr>
              <a:t>Total number of user votes received for the movie.</a:t>
            </a:r>
          </a:p>
          <a:p>
            <a:pPr>
              <a:lnSpc>
                <a:spcPct val="100000"/>
              </a:lnSpc>
            </a:pPr>
            <a:r>
              <a:rPr lang="en-US" sz="2100" dirty="0">
                <a:latin typeface="Times New Roman" panose="02020603050405020304" pitchFamily="18" charset="0"/>
                <a:cs typeface="Times New Roman" panose="02020603050405020304" pitchFamily="18" charset="0"/>
              </a:rPr>
              <a:t> </a:t>
            </a:r>
            <a:r>
              <a:rPr lang="en-US" sz="2100" b="1" dirty="0">
                <a:latin typeface="Times New Roman" panose="02020603050405020304" pitchFamily="18" charset="0"/>
                <a:cs typeface="Times New Roman" panose="02020603050405020304" pitchFamily="18" charset="0"/>
              </a:rPr>
              <a:t>Revenue (Millions)  </a:t>
            </a:r>
            <a:r>
              <a:rPr lang="en-US" sz="2100" dirty="0">
                <a:latin typeface="Times New Roman" panose="02020603050405020304" pitchFamily="18" charset="0"/>
                <a:cs typeface="Times New Roman" panose="02020603050405020304" pitchFamily="18" charset="0"/>
              </a:rPr>
              <a:t>   :   Total revenue generated by the movie in millions of USD.</a:t>
            </a:r>
          </a:p>
          <a:p>
            <a:pPr>
              <a:lnSpc>
                <a:spcPct val="100000"/>
              </a:lnSpc>
            </a:pPr>
            <a:r>
              <a:rPr lang="en-US" sz="2100" dirty="0">
                <a:latin typeface="Times New Roman" panose="02020603050405020304" pitchFamily="18" charset="0"/>
                <a:cs typeface="Times New Roman" panose="02020603050405020304" pitchFamily="18" charset="0"/>
              </a:rPr>
              <a:t> </a:t>
            </a:r>
            <a:r>
              <a:rPr lang="en-US" sz="2100" b="1" dirty="0" err="1">
                <a:latin typeface="Times New Roman" panose="02020603050405020304" pitchFamily="18" charset="0"/>
                <a:cs typeface="Times New Roman" panose="02020603050405020304" pitchFamily="18" charset="0"/>
              </a:rPr>
              <a:t>Metascore</a:t>
            </a:r>
            <a:r>
              <a:rPr lang="en-US" sz="2100" b="1" dirty="0">
                <a:latin typeface="Times New Roman" panose="02020603050405020304" pitchFamily="18" charset="0"/>
                <a:cs typeface="Times New Roman" panose="02020603050405020304" pitchFamily="18" charset="0"/>
              </a:rPr>
              <a:t>    </a:t>
            </a:r>
            <a:r>
              <a:rPr lang="en-US" sz="2100" dirty="0">
                <a:latin typeface="Times New Roman" panose="02020603050405020304" pitchFamily="18" charset="0"/>
                <a:cs typeface="Times New Roman" panose="02020603050405020304" pitchFamily="18" charset="0"/>
              </a:rPr>
              <a:t>                :   The Metacritic score representing critic reviews (0–100 scale). </a:t>
            </a:r>
            <a:endParaRPr lang="en-IN" sz="21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522074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AA7EFD-7AB8-1894-EE76-672CFC62CA4A}"/>
              </a:ext>
            </a:extLst>
          </p:cNvPr>
          <p:cNvSpPr>
            <a:spLocks noGrp="1"/>
          </p:cNvSpPr>
          <p:nvPr>
            <p:ph type="title"/>
          </p:nvPr>
        </p:nvSpPr>
        <p:spPr>
          <a:xfrm>
            <a:off x="838200" y="365125"/>
            <a:ext cx="10515600" cy="1293993"/>
          </a:xfrm>
        </p:spPr>
        <p:txBody>
          <a:bodyPr/>
          <a:lstStyle/>
          <a:p>
            <a:r>
              <a:rPr lang="en-IN" sz="3200" dirty="0">
                <a:latin typeface="Times New Roman" panose="02020603050405020304" pitchFamily="18" charset="0"/>
                <a:cs typeface="Times New Roman" panose="02020603050405020304" pitchFamily="18" charset="0"/>
              </a:rPr>
              <a:t>Data Cleaning &amp; Transformation :</a:t>
            </a:r>
            <a:endParaRPr lang="en-IN" dirty="0"/>
          </a:p>
        </p:txBody>
      </p:sp>
      <p:sp>
        <p:nvSpPr>
          <p:cNvPr id="3" name="Text Placeholder 2">
            <a:extLst>
              <a:ext uri="{FF2B5EF4-FFF2-40B4-BE49-F238E27FC236}">
                <a16:creationId xmlns:a16="http://schemas.microsoft.com/office/drawing/2014/main" id="{AFD4BC7A-BC0D-97B3-4D7D-EB3C970F5B9E}"/>
              </a:ext>
            </a:extLst>
          </p:cNvPr>
          <p:cNvSpPr>
            <a:spLocks noGrp="1"/>
          </p:cNvSpPr>
          <p:nvPr>
            <p:ph type="body" idx="1"/>
          </p:nvPr>
        </p:nvSpPr>
        <p:spPr>
          <a:xfrm>
            <a:off x="1150374" y="1659118"/>
            <a:ext cx="10203426" cy="4517845"/>
          </a:xfrm>
        </p:spPr>
        <p:txBody>
          <a:bodyPr/>
          <a:lstStyle/>
          <a:p>
            <a:r>
              <a:rPr lang="en-US" sz="2100" dirty="0">
                <a:latin typeface="Times New Roman" panose="02020603050405020304" pitchFamily="18" charset="0"/>
                <a:cs typeface="Times New Roman" panose="02020603050405020304" pitchFamily="18" charset="0"/>
              </a:rPr>
              <a:t>Identified null values in Revenue &amp; </a:t>
            </a:r>
            <a:r>
              <a:rPr lang="en-US" sz="2100" dirty="0" err="1">
                <a:latin typeface="Times New Roman" panose="02020603050405020304" pitchFamily="18" charset="0"/>
                <a:cs typeface="Times New Roman" panose="02020603050405020304" pitchFamily="18" charset="0"/>
              </a:rPr>
              <a:t>Metascore</a:t>
            </a:r>
            <a:r>
              <a:rPr lang="en-US" sz="2100" dirty="0">
                <a:latin typeface="Times New Roman" panose="02020603050405020304" pitchFamily="18" charset="0"/>
                <a:cs typeface="Times New Roman" panose="02020603050405020304" pitchFamily="18" charset="0"/>
              </a:rPr>
              <a:t>.</a:t>
            </a:r>
          </a:p>
          <a:p>
            <a:endParaRPr lang="en-US" sz="2100" dirty="0">
              <a:latin typeface="Times New Roman" panose="02020603050405020304" pitchFamily="18" charset="0"/>
              <a:cs typeface="Times New Roman" panose="02020603050405020304" pitchFamily="18" charset="0"/>
            </a:endParaRPr>
          </a:p>
          <a:p>
            <a:r>
              <a:rPr lang="en-US" sz="2100" dirty="0">
                <a:latin typeface="Times New Roman" panose="02020603050405020304" pitchFamily="18" charset="0"/>
                <a:cs typeface="Times New Roman" panose="02020603050405020304" pitchFamily="18" charset="0"/>
              </a:rPr>
              <a:t>Replaced null values with their respective column averages.</a:t>
            </a:r>
          </a:p>
          <a:p>
            <a:endParaRPr lang="en-US" sz="2100" dirty="0">
              <a:latin typeface="Times New Roman" panose="02020603050405020304" pitchFamily="18" charset="0"/>
              <a:cs typeface="Times New Roman" panose="02020603050405020304" pitchFamily="18" charset="0"/>
            </a:endParaRPr>
          </a:p>
          <a:p>
            <a:r>
              <a:rPr lang="en-US" sz="2100" dirty="0">
                <a:latin typeface="Times New Roman" panose="02020603050405020304" pitchFamily="18" charset="0"/>
                <a:cs typeface="Times New Roman" panose="02020603050405020304" pitchFamily="18" charset="0"/>
              </a:rPr>
              <a:t>Ensured correct data types.</a:t>
            </a:r>
          </a:p>
          <a:p>
            <a:pPr marL="114300" indent="0">
              <a:buNone/>
            </a:pPr>
            <a:endParaRPr lang="en-US" sz="2100" dirty="0">
              <a:latin typeface="Times New Roman" panose="02020603050405020304" pitchFamily="18" charset="0"/>
              <a:cs typeface="Times New Roman" panose="02020603050405020304" pitchFamily="18" charset="0"/>
            </a:endParaRPr>
          </a:p>
          <a:p>
            <a:r>
              <a:rPr lang="en-US" sz="2100" dirty="0">
                <a:latin typeface="Times New Roman" panose="02020603050405020304" pitchFamily="18" charset="0"/>
                <a:cs typeface="Times New Roman" panose="02020603050405020304" pitchFamily="18" charset="0"/>
              </a:rPr>
              <a:t>Added new DAX measures for calculations.</a:t>
            </a:r>
          </a:p>
          <a:p>
            <a:endParaRPr lang="en-US" sz="2100" dirty="0">
              <a:latin typeface="Times New Roman" panose="02020603050405020304" pitchFamily="18" charset="0"/>
              <a:cs typeface="Times New Roman" panose="02020603050405020304" pitchFamily="18" charset="0"/>
            </a:endParaRPr>
          </a:p>
          <a:p>
            <a:r>
              <a:rPr lang="en-US" sz="2100" dirty="0">
                <a:latin typeface="Times New Roman" panose="02020603050405020304" pitchFamily="18" charset="0"/>
                <a:cs typeface="Times New Roman" panose="02020603050405020304" pitchFamily="18" charset="0"/>
              </a:rPr>
              <a:t>Validated data correctness for accurate dashboard visuals.</a:t>
            </a:r>
          </a:p>
          <a:p>
            <a:pPr marL="114300" indent="0">
              <a:buNone/>
            </a:pPr>
            <a:endParaRPr lang="en-IN" dirty="0"/>
          </a:p>
        </p:txBody>
      </p:sp>
    </p:spTree>
    <p:extLst>
      <p:ext uri="{BB962C8B-B14F-4D97-AF65-F5344CB8AC3E}">
        <p14:creationId xmlns:p14="http://schemas.microsoft.com/office/powerpoint/2010/main" val="11067179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3C602F8-3450-8C95-4302-8B3BD07B7FA8}"/>
              </a:ext>
            </a:extLst>
          </p:cNvPr>
          <p:cNvPicPr>
            <a:picLocks noChangeAspect="1"/>
          </p:cNvPicPr>
          <p:nvPr/>
        </p:nvPicPr>
        <p:blipFill>
          <a:blip r:embed="rId2"/>
          <a:stretch>
            <a:fillRect/>
          </a:stretch>
        </p:blipFill>
        <p:spPr>
          <a:xfrm>
            <a:off x="353961" y="0"/>
            <a:ext cx="11326762" cy="6235624"/>
          </a:xfrm>
          <a:prstGeom prst="rect">
            <a:avLst/>
          </a:prstGeom>
        </p:spPr>
      </p:pic>
    </p:spTree>
    <p:extLst>
      <p:ext uri="{BB962C8B-B14F-4D97-AF65-F5344CB8AC3E}">
        <p14:creationId xmlns:p14="http://schemas.microsoft.com/office/powerpoint/2010/main" val="35880306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1970C96-DA3A-D5D8-3F3B-C6C436EFAEC2}"/>
              </a:ext>
            </a:extLst>
          </p:cNvPr>
          <p:cNvSpPr>
            <a:spLocks noGrp="1"/>
          </p:cNvSpPr>
          <p:nvPr>
            <p:ph type="ctrTitle"/>
          </p:nvPr>
        </p:nvSpPr>
        <p:spPr/>
        <p:txBody>
          <a:bodyPr/>
          <a:lstStyle/>
          <a:p>
            <a:endParaRPr lang="en-IN" dirty="0"/>
          </a:p>
        </p:txBody>
      </p:sp>
      <p:pic>
        <p:nvPicPr>
          <p:cNvPr id="11" name="Picture 10" descr="A screenshot of a computer&#10;&#10;AI-generated content may be incorrect.">
            <a:extLst>
              <a:ext uri="{FF2B5EF4-FFF2-40B4-BE49-F238E27FC236}">
                <a16:creationId xmlns:a16="http://schemas.microsoft.com/office/drawing/2014/main" id="{05E0B5B6-18A4-E763-70A6-252E43F14241}"/>
              </a:ext>
            </a:extLst>
          </p:cNvPr>
          <p:cNvPicPr>
            <a:picLocks noChangeAspect="1"/>
          </p:cNvPicPr>
          <p:nvPr/>
        </p:nvPicPr>
        <p:blipFill>
          <a:blip r:embed="rId2"/>
          <a:stretch>
            <a:fillRect/>
          </a:stretch>
        </p:blipFill>
        <p:spPr>
          <a:xfrm>
            <a:off x="658761" y="73834"/>
            <a:ext cx="11013172" cy="6090992"/>
          </a:xfrm>
          <a:prstGeom prst="rect">
            <a:avLst/>
          </a:prstGeom>
        </p:spPr>
      </p:pic>
    </p:spTree>
    <p:extLst>
      <p:ext uri="{BB962C8B-B14F-4D97-AF65-F5344CB8AC3E}">
        <p14:creationId xmlns:p14="http://schemas.microsoft.com/office/powerpoint/2010/main" val="32118595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336823-BB92-7CCA-D07E-C0F9DB7A271C}"/>
              </a:ext>
            </a:extLst>
          </p:cNvPr>
          <p:cNvSpPr>
            <a:spLocks noGrp="1"/>
          </p:cNvSpPr>
          <p:nvPr>
            <p:ph type="title"/>
          </p:nvPr>
        </p:nvSpPr>
        <p:spPr/>
        <p:txBody>
          <a:bodyPr/>
          <a:lstStyle/>
          <a:p>
            <a:r>
              <a:rPr lang="en-IN" sz="3200" dirty="0">
                <a:latin typeface="Times New Roman" panose="02020603050405020304" pitchFamily="18" charset="0"/>
                <a:cs typeface="Times New Roman" panose="02020603050405020304" pitchFamily="18" charset="0"/>
              </a:rPr>
              <a:t>Key Insights :</a:t>
            </a:r>
          </a:p>
        </p:txBody>
      </p:sp>
      <p:sp>
        <p:nvSpPr>
          <p:cNvPr id="3" name="Text Placeholder 2">
            <a:extLst>
              <a:ext uri="{FF2B5EF4-FFF2-40B4-BE49-F238E27FC236}">
                <a16:creationId xmlns:a16="http://schemas.microsoft.com/office/drawing/2014/main" id="{D187E644-104F-4366-C988-F716094337CB}"/>
              </a:ext>
            </a:extLst>
          </p:cNvPr>
          <p:cNvSpPr>
            <a:spLocks noGrp="1"/>
          </p:cNvSpPr>
          <p:nvPr>
            <p:ph type="body" idx="1"/>
          </p:nvPr>
        </p:nvSpPr>
        <p:spPr/>
        <p:txBody>
          <a:bodyPr/>
          <a:lstStyle/>
          <a:p>
            <a:pPr>
              <a:lnSpc>
                <a:spcPct val="100000"/>
              </a:lnSpc>
            </a:pPr>
            <a:r>
              <a:rPr lang="en-US" sz="2100" dirty="0">
                <a:latin typeface="Times New Roman" panose="02020603050405020304" pitchFamily="18" charset="0"/>
                <a:cs typeface="Times New Roman" panose="02020603050405020304" pitchFamily="18" charset="0"/>
              </a:rPr>
              <a:t>Movies with higher IMDb ratings generally correlate with higher revenue.</a:t>
            </a:r>
          </a:p>
          <a:p>
            <a:pPr>
              <a:lnSpc>
                <a:spcPct val="100000"/>
              </a:lnSpc>
            </a:pPr>
            <a:endParaRPr lang="en-US" sz="2100" dirty="0">
              <a:latin typeface="Times New Roman" panose="02020603050405020304" pitchFamily="18" charset="0"/>
              <a:cs typeface="Times New Roman" panose="02020603050405020304" pitchFamily="18" charset="0"/>
            </a:endParaRPr>
          </a:p>
          <a:p>
            <a:pPr>
              <a:lnSpc>
                <a:spcPct val="100000"/>
              </a:lnSpc>
            </a:pPr>
            <a:r>
              <a:rPr lang="en-US" sz="2100" dirty="0">
                <a:latin typeface="Times New Roman" panose="02020603050405020304" pitchFamily="18" charset="0"/>
                <a:cs typeface="Times New Roman" panose="02020603050405020304" pitchFamily="18" charset="0"/>
              </a:rPr>
              <a:t>Action and Drama genres lead in revenue and movie count.</a:t>
            </a:r>
          </a:p>
          <a:p>
            <a:pPr>
              <a:lnSpc>
                <a:spcPct val="100000"/>
              </a:lnSpc>
            </a:pPr>
            <a:endParaRPr lang="en-US" sz="2100" dirty="0">
              <a:latin typeface="Times New Roman" panose="02020603050405020304" pitchFamily="18" charset="0"/>
              <a:cs typeface="Times New Roman" panose="02020603050405020304" pitchFamily="18" charset="0"/>
            </a:endParaRPr>
          </a:p>
          <a:p>
            <a:pPr>
              <a:lnSpc>
                <a:spcPct val="100000"/>
              </a:lnSpc>
            </a:pPr>
            <a:r>
              <a:rPr lang="en-US" sz="2100" dirty="0">
                <a:latin typeface="Times New Roman" panose="02020603050405020304" pitchFamily="18" charset="0"/>
                <a:cs typeface="Times New Roman" panose="02020603050405020304" pitchFamily="18" charset="0"/>
              </a:rPr>
              <a:t>Directors with consistent high-grossing films dominate overall revenue.</a:t>
            </a:r>
          </a:p>
          <a:p>
            <a:pPr>
              <a:lnSpc>
                <a:spcPct val="100000"/>
              </a:lnSpc>
            </a:pPr>
            <a:endParaRPr lang="en-US" sz="2100" dirty="0">
              <a:latin typeface="Times New Roman" panose="02020603050405020304" pitchFamily="18" charset="0"/>
              <a:cs typeface="Times New Roman" panose="02020603050405020304" pitchFamily="18" charset="0"/>
            </a:endParaRPr>
          </a:p>
          <a:p>
            <a:pPr>
              <a:lnSpc>
                <a:spcPct val="100000"/>
              </a:lnSpc>
            </a:pPr>
            <a:r>
              <a:rPr lang="en-US" sz="2100" dirty="0">
                <a:latin typeface="Times New Roman" panose="02020603050405020304" pitchFamily="18" charset="0"/>
                <a:cs typeface="Times New Roman" panose="02020603050405020304" pitchFamily="18" charset="0"/>
              </a:rPr>
              <a:t>Medium-length movies tend to achieve better ratings and average revenue.</a:t>
            </a:r>
          </a:p>
          <a:p>
            <a:pPr>
              <a:lnSpc>
                <a:spcPct val="100000"/>
              </a:lnSpc>
            </a:pPr>
            <a:endParaRPr lang="en-US" sz="2100" dirty="0">
              <a:latin typeface="Times New Roman" panose="02020603050405020304" pitchFamily="18" charset="0"/>
              <a:cs typeface="Times New Roman" panose="02020603050405020304" pitchFamily="18" charset="0"/>
            </a:endParaRPr>
          </a:p>
          <a:p>
            <a:pPr>
              <a:lnSpc>
                <a:spcPct val="100000"/>
              </a:lnSpc>
            </a:pPr>
            <a:r>
              <a:rPr lang="en-US" sz="2100" dirty="0">
                <a:latin typeface="Times New Roman" panose="02020603050405020304" pitchFamily="18" charset="0"/>
                <a:cs typeface="Times New Roman" panose="02020603050405020304" pitchFamily="18" charset="0"/>
              </a:rPr>
              <a:t>Audience Engagement Metrics Help Predict Success.</a:t>
            </a:r>
          </a:p>
        </p:txBody>
      </p:sp>
    </p:spTree>
    <p:extLst>
      <p:ext uri="{BB962C8B-B14F-4D97-AF65-F5344CB8AC3E}">
        <p14:creationId xmlns:p14="http://schemas.microsoft.com/office/powerpoint/2010/main" val="4579104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E07A2F-70FB-5C08-32A5-512EA36A7550}"/>
              </a:ext>
            </a:extLst>
          </p:cNvPr>
          <p:cNvSpPr>
            <a:spLocks noGrp="1"/>
          </p:cNvSpPr>
          <p:nvPr>
            <p:ph type="title"/>
          </p:nvPr>
        </p:nvSpPr>
        <p:spPr/>
        <p:txBody>
          <a:bodyPr/>
          <a:lstStyle/>
          <a:p>
            <a:r>
              <a:rPr lang="en-US" sz="3200" dirty="0">
                <a:latin typeface="Times New Roman" panose="02020603050405020304" pitchFamily="18" charset="0"/>
                <a:cs typeface="Times New Roman" panose="02020603050405020304" pitchFamily="18" charset="0"/>
              </a:rPr>
              <a:t>Recommendations:</a:t>
            </a:r>
            <a:br>
              <a:rPr lang="en-US" b="1" dirty="0"/>
            </a:br>
            <a:endParaRPr lang="en-IN" dirty="0"/>
          </a:p>
        </p:txBody>
      </p:sp>
      <p:sp>
        <p:nvSpPr>
          <p:cNvPr id="3" name="Text Placeholder 2">
            <a:extLst>
              <a:ext uri="{FF2B5EF4-FFF2-40B4-BE49-F238E27FC236}">
                <a16:creationId xmlns:a16="http://schemas.microsoft.com/office/drawing/2014/main" id="{2670137B-A479-3212-299F-EF2398F26D52}"/>
              </a:ext>
            </a:extLst>
          </p:cNvPr>
          <p:cNvSpPr>
            <a:spLocks noGrp="1"/>
          </p:cNvSpPr>
          <p:nvPr>
            <p:ph type="body" idx="1"/>
          </p:nvPr>
        </p:nvSpPr>
        <p:spPr>
          <a:xfrm>
            <a:off x="1022554" y="1120877"/>
            <a:ext cx="10331245" cy="5056086"/>
          </a:xfrm>
        </p:spPr>
        <p:txBody>
          <a:bodyPr/>
          <a:lstStyle/>
          <a:p>
            <a:pPr>
              <a:lnSpc>
                <a:spcPct val="150000"/>
              </a:lnSpc>
            </a:pPr>
            <a:r>
              <a:rPr lang="en-US" sz="2100" dirty="0">
                <a:latin typeface="Times New Roman" panose="02020603050405020304" pitchFamily="18" charset="0"/>
                <a:cs typeface="Times New Roman" panose="02020603050405020304" pitchFamily="18" charset="0"/>
              </a:rPr>
              <a:t>Focus production and marketing efforts on </a:t>
            </a:r>
            <a:r>
              <a:rPr lang="en-US" sz="2100" b="1" dirty="0">
                <a:latin typeface="Times New Roman" panose="02020603050405020304" pitchFamily="18" charset="0"/>
                <a:cs typeface="Times New Roman" panose="02020603050405020304" pitchFamily="18" charset="0"/>
              </a:rPr>
              <a:t>high-performing genres</a:t>
            </a:r>
            <a:r>
              <a:rPr lang="en-US" sz="2100" dirty="0">
                <a:latin typeface="Times New Roman" panose="02020603050405020304" pitchFamily="18" charset="0"/>
                <a:cs typeface="Times New Roman" panose="02020603050405020304" pitchFamily="18" charset="0"/>
              </a:rPr>
              <a:t> like Action and Drama</a:t>
            </a:r>
          </a:p>
          <a:p>
            <a:pPr>
              <a:lnSpc>
                <a:spcPct val="150000"/>
              </a:lnSpc>
            </a:pPr>
            <a:r>
              <a:rPr lang="en-US" sz="2100" dirty="0">
                <a:latin typeface="Times New Roman" panose="02020603050405020304" pitchFamily="18" charset="0"/>
                <a:cs typeface="Times New Roman" panose="02020603050405020304" pitchFamily="18" charset="0"/>
              </a:rPr>
              <a:t>Collaborate more with </a:t>
            </a:r>
            <a:r>
              <a:rPr lang="en-US" sz="2100" b="1" dirty="0">
                <a:latin typeface="Times New Roman" panose="02020603050405020304" pitchFamily="18" charset="0"/>
                <a:cs typeface="Times New Roman" panose="02020603050405020304" pitchFamily="18" charset="0"/>
              </a:rPr>
              <a:t>top revenue-generating directors</a:t>
            </a:r>
            <a:r>
              <a:rPr lang="en-US" sz="2100" dirty="0">
                <a:latin typeface="Times New Roman" panose="02020603050405020304" pitchFamily="18" charset="0"/>
                <a:cs typeface="Times New Roman" panose="02020603050405020304" pitchFamily="18" charset="0"/>
              </a:rPr>
              <a:t> for better Revenue</a:t>
            </a:r>
          </a:p>
          <a:p>
            <a:pPr>
              <a:lnSpc>
                <a:spcPct val="150000"/>
              </a:lnSpc>
            </a:pPr>
            <a:r>
              <a:rPr lang="en-US" sz="2100" dirty="0">
                <a:latin typeface="Times New Roman" panose="02020603050405020304" pitchFamily="18" charset="0"/>
                <a:cs typeface="Times New Roman" panose="02020603050405020304" pitchFamily="18" charset="0"/>
              </a:rPr>
              <a:t>Selecting scripts that target </a:t>
            </a:r>
            <a:r>
              <a:rPr lang="en-US" sz="2100" b="1" dirty="0">
                <a:latin typeface="Times New Roman" panose="02020603050405020304" pitchFamily="18" charset="0"/>
                <a:cs typeface="Times New Roman" panose="02020603050405020304" pitchFamily="18" charset="0"/>
              </a:rPr>
              <a:t>medium runtimes</a:t>
            </a:r>
            <a:r>
              <a:rPr lang="en-US" sz="2100" dirty="0">
                <a:latin typeface="Times New Roman" panose="02020603050405020304" pitchFamily="18" charset="0"/>
                <a:cs typeface="Times New Roman" panose="02020603050405020304" pitchFamily="18" charset="0"/>
              </a:rPr>
              <a:t>, as they show better ratings and revenue</a:t>
            </a:r>
          </a:p>
          <a:p>
            <a:pPr>
              <a:lnSpc>
                <a:spcPct val="150000"/>
              </a:lnSpc>
            </a:pPr>
            <a:r>
              <a:rPr lang="en-US" sz="2100" dirty="0">
                <a:latin typeface="Times New Roman" panose="02020603050405020304" pitchFamily="18" charset="0"/>
                <a:cs typeface="Times New Roman" panose="02020603050405020304" pitchFamily="18" charset="0"/>
              </a:rPr>
              <a:t>Use </a:t>
            </a:r>
            <a:r>
              <a:rPr lang="en-US" sz="2100" b="1" dirty="0">
                <a:latin typeface="Times New Roman" panose="02020603050405020304" pitchFamily="18" charset="0"/>
                <a:cs typeface="Times New Roman" panose="02020603050405020304" pitchFamily="18" charset="0"/>
              </a:rPr>
              <a:t>ratings and audience votes</a:t>
            </a:r>
            <a:r>
              <a:rPr lang="en-US" sz="2100" dirty="0">
                <a:latin typeface="Times New Roman" panose="02020603050405020304" pitchFamily="18" charset="0"/>
                <a:cs typeface="Times New Roman" panose="02020603050405020304" pitchFamily="18" charset="0"/>
              </a:rPr>
              <a:t> as early indicators of movie success</a:t>
            </a:r>
          </a:p>
          <a:p>
            <a:pPr marL="114300" indent="0">
              <a:buNone/>
            </a:pPr>
            <a:endParaRPr lang="en-IN" dirty="0"/>
          </a:p>
        </p:txBody>
      </p:sp>
    </p:spTree>
    <p:extLst>
      <p:ext uri="{BB962C8B-B14F-4D97-AF65-F5344CB8AC3E}">
        <p14:creationId xmlns:p14="http://schemas.microsoft.com/office/powerpoint/2010/main" val="3983685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18FB99-0F5C-5EB5-AD05-0B49E51F0673}"/>
              </a:ext>
            </a:extLst>
          </p:cNvPr>
          <p:cNvSpPr>
            <a:spLocks noGrp="1"/>
          </p:cNvSpPr>
          <p:nvPr>
            <p:ph type="title"/>
          </p:nvPr>
        </p:nvSpPr>
        <p:spPr/>
        <p:txBody>
          <a:bodyPr/>
          <a:lstStyle/>
          <a:p>
            <a:r>
              <a:rPr lang="en-IN" sz="3200" dirty="0">
                <a:latin typeface="Times New Roman" panose="02020603050405020304" pitchFamily="18" charset="0"/>
                <a:cs typeface="Times New Roman" panose="02020603050405020304" pitchFamily="18" charset="0"/>
              </a:rPr>
              <a:t>Challenges Faced :</a:t>
            </a:r>
          </a:p>
        </p:txBody>
      </p:sp>
      <p:sp>
        <p:nvSpPr>
          <p:cNvPr id="3" name="Text Placeholder 2">
            <a:extLst>
              <a:ext uri="{FF2B5EF4-FFF2-40B4-BE49-F238E27FC236}">
                <a16:creationId xmlns:a16="http://schemas.microsoft.com/office/drawing/2014/main" id="{EE7AF13E-D556-D85F-D925-72B166E11F68}"/>
              </a:ext>
            </a:extLst>
          </p:cNvPr>
          <p:cNvSpPr>
            <a:spLocks noGrp="1"/>
          </p:cNvSpPr>
          <p:nvPr>
            <p:ph type="body" idx="1"/>
          </p:nvPr>
        </p:nvSpPr>
        <p:spPr/>
        <p:txBody>
          <a:bodyPr/>
          <a:lstStyle/>
          <a:p>
            <a:r>
              <a:rPr lang="en-IN" sz="2100" dirty="0">
                <a:latin typeface="Times New Roman" panose="02020603050405020304" pitchFamily="18" charset="0"/>
                <a:cs typeface="Times New Roman" panose="02020603050405020304" pitchFamily="18" charset="0"/>
              </a:rPr>
              <a:t>Missing &amp; Incomplete Data</a:t>
            </a:r>
          </a:p>
          <a:p>
            <a:endParaRPr lang="en-IN" sz="2100" dirty="0">
              <a:latin typeface="Times New Roman" panose="02020603050405020304" pitchFamily="18" charset="0"/>
              <a:cs typeface="Times New Roman" panose="02020603050405020304" pitchFamily="18" charset="0"/>
            </a:endParaRPr>
          </a:p>
          <a:p>
            <a:r>
              <a:rPr lang="en-IN" sz="2100" dirty="0">
                <a:latin typeface="Times New Roman" panose="02020603050405020304" pitchFamily="18" charset="0"/>
                <a:cs typeface="Times New Roman" panose="02020603050405020304" pitchFamily="18" charset="0"/>
              </a:rPr>
              <a:t>Data Type Issues</a:t>
            </a:r>
          </a:p>
          <a:p>
            <a:pPr marL="114300" indent="0">
              <a:buNone/>
            </a:pPr>
            <a:endParaRPr lang="en-US" sz="2100" dirty="0">
              <a:latin typeface="Times New Roman" panose="02020603050405020304" pitchFamily="18" charset="0"/>
              <a:cs typeface="Times New Roman" panose="02020603050405020304" pitchFamily="18" charset="0"/>
            </a:endParaRPr>
          </a:p>
          <a:p>
            <a:r>
              <a:rPr lang="en-IN" sz="2100" dirty="0">
                <a:latin typeface="Times New Roman" panose="02020603050405020304" pitchFamily="18" charset="0"/>
                <a:cs typeface="Times New Roman" panose="02020603050405020304" pitchFamily="18" charset="0"/>
              </a:rPr>
              <a:t>Complex correlations (rating–revenue, runtime–revenue)</a:t>
            </a:r>
          </a:p>
          <a:p>
            <a:endParaRPr lang="en-IN" sz="2100" dirty="0">
              <a:latin typeface="Times New Roman" panose="02020603050405020304" pitchFamily="18" charset="0"/>
              <a:cs typeface="Times New Roman" panose="02020603050405020304" pitchFamily="18" charset="0"/>
            </a:endParaRPr>
          </a:p>
          <a:p>
            <a:r>
              <a:rPr lang="en-US" sz="2100" dirty="0">
                <a:latin typeface="Times New Roman" panose="02020603050405020304" pitchFamily="18" charset="0"/>
                <a:cs typeface="Times New Roman" panose="02020603050405020304" pitchFamily="18" charset="0"/>
              </a:rPr>
              <a:t>Choosing the most meaningful KPIs</a:t>
            </a:r>
            <a:endParaRPr lang="en-IN" sz="21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6535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55BE7A-D428-5727-0FA6-AB2EB04EDB9C}"/>
              </a:ext>
            </a:extLst>
          </p:cNvPr>
          <p:cNvSpPr>
            <a:spLocks noGrp="1"/>
          </p:cNvSpPr>
          <p:nvPr>
            <p:ph type="title"/>
          </p:nvPr>
        </p:nvSpPr>
        <p:spPr/>
        <p:txBody>
          <a:bodyPr/>
          <a:lstStyle/>
          <a:p>
            <a:r>
              <a:rPr lang="en-IN" sz="3200" dirty="0">
                <a:latin typeface="Times New Roman" panose="02020603050405020304" pitchFamily="18" charset="0"/>
                <a:cs typeface="Times New Roman" panose="02020603050405020304" pitchFamily="18" charset="0"/>
              </a:rPr>
              <a:t>Conclusion :</a:t>
            </a:r>
          </a:p>
        </p:txBody>
      </p:sp>
      <p:sp>
        <p:nvSpPr>
          <p:cNvPr id="3" name="Text Placeholder 2">
            <a:extLst>
              <a:ext uri="{FF2B5EF4-FFF2-40B4-BE49-F238E27FC236}">
                <a16:creationId xmlns:a16="http://schemas.microsoft.com/office/drawing/2014/main" id="{27ACD7C2-5B78-678F-4FD6-06B79363B053}"/>
              </a:ext>
            </a:extLst>
          </p:cNvPr>
          <p:cNvSpPr>
            <a:spLocks noGrp="1"/>
          </p:cNvSpPr>
          <p:nvPr>
            <p:ph type="body" idx="1"/>
          </p:nvPr>
        </p:nvSpPr>
        <p:spPr>
          <a:xfrm>
            <a:off x="1061884" y="1386348"/>
            <a:ext cx="10291916" cy="4790615"/>
          </a:xfrm>
        </p:spPr>
        <p:txBody>
          <a:bodyPr>
            <a:normAutofit/>
          </a:bodyPr>
          <a:lstStyle/>
          <a:p>
            <a:pPr>
              <a:lnSpc>
                <a:spcPct val="100000"/>
              </a:lnSpc>
            </a:pPr>
            <a:r>
              <a:rPr lang="en-US" sz="2100" dirty="0">
                <a:latin typeface="Times New Roman" panose="02020603050405020304" pitchFamily="18" charset="0"/>
                <a:cs typeface="Times New Roman" panose="02020603050405020304" pitchFamily="18" charset="0"/>
              </a:rPr>
              <a:t>The Movie Sales Analysis Dashboard successfully provides a complete understanding of movie performance across years, genres, directors, ratings, and audience engagement. </a:t>
            </a:r>
          </a:p>
          <a:p>
            <a:pPr>
              <a:lnSpc>
                <a:spcPct val="100000"/>
              </a:lnSpc>
            </a:pPr>
            <a:r>
              <a:rPr lang="en-US" sz="2100" dirty="0">
                <a:latin typeface="Times New Roman" panose="02020603050405020304" pitchFamily="18" charset="0"/>
                <a:cs typeface="Times New Roman" panose="02020603050405020304" pitchFamily="18" charset="0"/>
              </a:rPr>
              <a:t>By converting raw IMDB data into interactive insights, the dashboard helps identify what truly drives box-office success.</a:t>
            </a:r>
          </a:p>
          <a:p>
            <a:pPr>
              <a:lnSpc>
                <a:spcPct val="100000"/>
              </a:lnSpc>
            </a:pPr>
            <a:r>
              <a:rPr lang="en-US" sz="2100" dirty="0">
                <a:latin typeface="Times New Roman" panose="02020603050405020304" pitchFamily="18" charset="0"/>
                <a:cs typeface="Times New Roman" panose="02020603050405020304" pitchFamily="18" charset="0"/>
              </a:rPr>
              <a:t> It highlights trends in revenue, top-performing genres and directors, and the impact of ratings, votes, and runtime on movie outcomes.</a:t>
            </a:r>
          </a:p>
          <a:p>
            <a:pPr>
              <a:lnSpc>
                <a:spcPct val="100000"/>
              </a:lnSpc>
            </a:pPr>
            <a:r>
              <a:rPr lang="en-US" sz="2100" dirty="0">
                <a:latin typeface="Times New Roman" panose="02020603050405020304" pitchFamily="18" charset="0"/>
                <a:cs typeface="Times New Roman" panose="02020603050405020304" pitchFamily="18" charset="0"/>
              </a:rPr>
              <a:t>This analysis supports better, data-driven decisions for movie production, marketing, budgeting, and content strategy-ensuring that studios and platforms invest in the right movies that connect with audiences and maximize revenue.</a:t>
            </a:r>
          </a:p>
          <a:p>
            <a:endParaRPr lang="en-IN" dirty="0"/>
          </a:p>
        </p:txBody>
      </p:sp>
    </p:spTree>
    <p:extLst>
      <p:ext uri="{BB962C8B-B14F-4D97-AF65-F5344CB8AC3E}">
        <p14:creationId xmlns:p14="http://schemas.microsoft.com/office/powerpoint/2010/main" val="37918866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66516" y="1850749"/>
            <a:ext cx="4465643" cy="2834317"/>
          </a:xfrm>
          <a:prstGeom prst="rect">
            <a:avLst/>
          </a:prstGeom>
          <a:noFill/>
          <a:ln>
            <a:noFill/>
          </a:ln>
        </p:spPr>
      </p:pic>
      <p:sp>
        <p:nvSpPr>
          <p:cNvPr id="117" name="Google Shape;117;p5"/>
          <p:cNvSpPr txBox="1"/>
          <p:nvPr/>
        </p:nvSpPr>
        <p:spPr>
          <a:xfrm>
            <a:off x="1244600" y="2997200"/>
            <a:ext cx="3661836" cy="76944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a:buNone/>
            </a:pPr>
            <a:r>
              <a:rPr lang="en-IN" sz="4400" b="0" i="0" u="none" strike="noStrike" cap="none">
                <a:solidFill>
                  <a:srgbClr val="C00000"/>
                </a:solidFill>
                <a:latin typeface="Libre Baskerville"/>
                <a:ea typeface="Libre Baskerville"/>
                <a:cs typeface="Libre Baskerville"/>
                <a:sym typeface="Libre Baskerville"/>
              </a:rPr>
              <a:t>THANK YOU</a:t>
            </a: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1978</TotalTime>
  <Words>742</Words>
  <Application>Microsoft Office PowerPoint</Application>
  <PresentationFormat>Widescreen</PresentationFormat>
  <Paragraphs>99</Paragraphs>
  <Slides>14</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Times New Roman</vt:lpstr>
      <vt:lpstr>Calibri</vt:lpstr>
      <vt:lpstr>Arial</vt:lpstr>
      <vt:lpstr>Lato Black</vt:lpstr>
      <vt:lpstr>Libre Baskerville</vt:lpstr>
      <vt:lpstr>Office Theme</vt:lpstr>
      <vt:lpstr>PowerPoint Presentation</vt:lpstr>
      <vt:lpstr>AGENDA :</vt:lpstr>
      <vt:lpstr>Business Problem :</vt:lpstr>
      <vt:lpstr>Business Objective :</vt:lpstr>
      <vt:lpstr>Problem Statement: </vt:lpstr>
      <vt:lpstr>Dataset Overview :</vt:lpstr>
      <vt:lpstr>Data Cleaning &amp; Transformation :</vt:lpstr>
      <vt:lpstr>PowerPoint Presentation</vt:lpstr>
      <vt:lpstr>PowerPoint Presentation</vt:lpstr>
      <vt:lpstr>Key Insights :</vt:lpstr>
      <vt:lpstr>Recommendations: </vt:lpstr>
      <vt:lpstr>Challenges Faced :</vt:lpstr>
      <vt:lpstr>Conclusion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Raghu Ram Aduri</dc:creator>
  <cp:lastModifiedBy>Harish Uppula</cp:lastModifiedBy>
  <cp:revision>45</cp:revision>
  <dcterms:created xsi:type="dcterms:W3CDTF">2021-02-16T05:19:01Z</dcterms:created>
  <dcterms:modified xsi:type="dcterms:W3CDTF">2026-01-03T08:56:38Z</dcterms:modified>
</cp:coreProperties>
</file>